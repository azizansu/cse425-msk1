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72" r:id="rId4"/>
    <p:sldId id="284" r:id="rId5"/>
    <p:sldId id="274" r:id="rId6"/>
    <p:sldId id="286" r:id="rId7"/>
    <p:sldId id="287" r:id="rId8"/>
    <p:sldId id="275" r:id="rId9"/>
    <p:sldId id="276" r:id="rId10"/>
    <p:sldId id="277" r:id="rId11"/>
    <p:sldId id="278" r:id="rId12"/>
    <p:sldId id="288" r:id="rId13"/>
    <p:sldId id="289" r:id="rId14"/>
    <p:sldId id="279" r:id="rId15"/>
    <p:sldId id="2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BFE56-0F17-4D42-B991-A86985EB8487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03A76-CA2B-40B4-97DF-9E94BE40D7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1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322C2C0A-EA67-483E-B11A-B81C16BB25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93A7D96B-4AF6-4921-9C3D-784605901252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7AE574CC-ACD8-41DC-9A44-9538B8CE119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7125CE2A-258B-4C85-8B5B-DD909ED8A4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FF7177B7-EA4C-4670-A065-1AD63CEECF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FF539046-5CE7-460B-BC15-DC78A6A0D6E9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C24E9DB-1099-41D4-BD32-A0BE45692A9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162BF65A-AEEE-42E5-8142-A48AF29D4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434474ED-C3AE-43DF-849B-DA858A58D5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B54F7715-DAB2-43B0-95BC-9B3BBBFC8804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70E0E241-AD2C-4385-888D-6B48C65C5FE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DF19AD3C-7277-48FC-9724-2CBB48184B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CD0DADBC-5FF9-4A0C-B946-48D6283933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9D7C098E-7929-4288-9185-D567AFD58849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AE858A17-B32E-4A0E-BAC9-4BA627604C1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058A1843-49B4-4991-8790-F6079056D5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214BA5C4-6BA0-4944-AA3B-0B3B290B7A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B5A3E668-99A7-4807-8372-E2930B062AC0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7C35C10F-C415-4EE2-B202-A76A38B6B5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F8214259-7299-46AA-B6B5-FB331D4F89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225E765B-F241-4663-BEE9-F4520E463C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EEB073AE-A792-4629-B823-3DC68E4D6494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13330133-074B-4506-B3F3-79A9E463E3E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6F02351B-B6C6-4E7B-AEFA-0F6CDD58F1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712D5078-9917-41B1-8C1B-198CB526D0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56CCF43E-5B95-48B6-BC13-526357F3CED0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3FA3813A-C430-4F66-BA27-23C701AA6CD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FDDE0565-AF81-41D1-95B6-6DBDFD7F2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3DDCB8E4-490F-4230-91F5-A10076CCA0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6B7DF2BB-BC0F-4FD1-A3FA-75CA7FC4B758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632370B7-C8B0-410E-AE46-42A417A35B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A5ABF542-F000-4A14-9D5A-F628BC3D4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23E98871-97FF-4DEB-A4A7-87717DE55E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03C6226-3862-417D-860B-BE40C3828251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33A54AC5-DAF1-4F94-8DD9-5D90A43DD4C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F215D5FD-ADC7-4647-87E3-6360747AD4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C0C16E2C-3F1B-4923-A410-3CCA3A7E67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3007A1A9-098E-4B8D-80A5-ED9135CB6BE2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60888DB2-EC5B-494A-B2DA-26C9393436B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B1BBED12-CFCD-4AD5-8668-32C9F96994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C3AC0930-D532-4957-9DC0-494DF9B6A3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F8F93180-0532-48B7-9A51-9EEF854D8D73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3E92022-01C5-4C14-8326-2A727D3EE99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D2DA5058-FA93-4682-9CA9-33E2491468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0C805FD5-3159-4DB3-877C-6421956B09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B2661C8D-2547-4386-B6CE-D0EEBC410402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B053CF5-4AD3-44E2-99DD-D130168E6F9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A56CE80-F7D4-4DE1-959C-66E154571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27CB3DD2-C7E2-4BFC-A84C-FA7431CF6D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16DD7D5F-144B-46EC-A7D0-BFA8EDCF8E1E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1DFE920C-B234-4876-ACE3-187EA5BCFC1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1407755-3615-463C-A355-3F05DB1F86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AE88A137-FC6D-4A0C-8C70-19FE5675DF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fld id="{AF9BCF9A-AB60-47E1-9DCF-5A918784A01D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CADB9ECA-EBB2-4811-A0A2-B243DB1AA21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81A49951-A898-4BCE-BED0-B0C169662D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943F-7DC1-4202-AB33-049EC0169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B4599-3C5C-4A3D-B2E9-A684F291D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76E7F4-83B9-4D52-B800-A840BA682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D8324-1022-4784-A524-986A51D09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1362D-AA97-4EF5-A8BA-E727700F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25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C0FF-8326-4344-A4F6-DEF1FE5E0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6302C-F6B7-488F-8A1F-6C80D4313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B81BF8-64EC-4E29-A9ED-298DFF941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709F-AC66-42E5-80E4-7430CBF5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BC533-8093-4534-BC1C-A05B3F0C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89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6BF6A-29E7-4592-A8B9-3283684B9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2BF72-0D3E-4D9F-8175-158FA9BE5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216E4-67BB-460F-AC14-25FEFE64A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55EC8-2903-46C6-BFCB-76BE22921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6577E-5BAE-4ECB-A267-4A304583D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84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FBF89-5B69-4DD3-8632-5EECC444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CA533-79E5-43D5-A477-FB000A9AD4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12C990-1466-4347-BB4B-45C21231B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93E5F-0456-47F9-A23B-12686A4B1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69AA1-E0D6-429A-A823-9B95F6134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5A67A-8D93-4FDB-B213-EC4A39EC2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82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C8FF-DE91-4E7C-8CD2-FE00FCB3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FBE04-C1D7-45C0-BD3F-A099FE365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D367E-D9BD-4ABA-AC5A-A447932EA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B9E082-773D-47A1-9E9D-A46D1A5363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0CA5F8-AD52-4B7E-A861-E0F01AC9F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F49490-3764-4C83-983B-0C964A4B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C7F1E0-065C-4894-A757-9FD46E5C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FDD750-69E5-459A-B7B2-3D94A02DE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5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6E107-01DC-411C-8094-D48A1B2AC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14A87F-CB19-4FA2-ADD0-6AA05FF0B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0068A-CAB1-4307-9790-4E17E0497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E1A59E-157B-46A8-90C3-D41472A4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71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1484B7-8E3F-435A-91B3-4AE7A7EFC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8E6BB-7FA5-416B-AAF9-B5A3CE2D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8424B-EAE1-469C-B859-ACFE204C7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13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237B-C460-4F36-ABC6-0BC42BD6B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2E05A-B9F6-4F1A-9959-D4F432902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17772-8C02-42B1-A415-7FB1B13A1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E3DB29-AB9C-4847-BE75-8C4B0F7C6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D4041-D0C4-4D0C-95D9-37C957C6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4235D-9AEC-41E0-A9C2-96C8DC3D6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448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1164-0728-42CD-B39D-2BED5BACB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D246D-39C2-47A1-B748-7182765AC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530020-8D0B-4A4E-8286-BB396A00E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CDD1A0-05B5-4544-9FA8-B612E5680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F8873-F599-41D1-9121-B79163447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0319FD-7CEB-4510-9B6F-AC27899F4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196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30D73-25D2-49E5-8375-D5CD9BAC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8E481B-A9CE-4EEB-B034-D0A8AEA0C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573E1-8514-4029-BB46-A0217A6D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DC6CF-E5C3-46B8-BD4F-CC440883B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07E25-13B4-43CE-98A5-4F34A3BE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46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71D5B9-4334-49E2-9F33-F137C10ED7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947181-71B8-4611-ACFE-52F2C58B0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52B8B-94AC-46BA-AACE-166296101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B1545-4E1C-4BB6-A3B8-57F2C952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F2A20-78A3-463E-8811-266400BE1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5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B8F61-2C36-4822-9314-7FFE35FFC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D8491-76E3-4B3B-9952-9B9380A34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E423E-28A2-435E-8ADF-8B837D50DC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C882C-711D-4D35-B768-C7016A66BCE4}" type="datetimeFigureOut">
              <a:rPr lang="en-US" smtClean="0"/>
              <a:t>6/8/2021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3FE76-75E7-41B4-94E7-60DF06F1D0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F2390-D729-4C2B-962E-B16ED2CD3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B3C04-A9BF-46A6-A155-5981B26BAA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97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605E-699E-436D-8B79-DA30E335A9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Language Implementation 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07356-4135-4533-B2D2-1F3BDBF53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61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>
            <a:extLst>
              <a:ext uri="{FF2B5EF4-FFF2-40B4-BE49-F238E27FC236}">
                <a16:creationId xmlns:a16="http://schemas.microsoft.com/office/drawing/2014/main" id="{15FEA308-28D8-4897-BAED-D0EB336A21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EF03B491-AEA5-482E-9311-5893F18501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0F6B3ABB-5659-4520-A731-032D0304164F}" type="slidenum">
              <a:rPr lang="en-US" altLang="en-US" sz="1000">
                <a:latin typeface="Arial" panose="020B0604020202020204" pitchFamily="34" charset="0"/>
              </a:rPr>
              <a:pPr/>
              <a:t>2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A29C6DBE-3537-4F45-AD59-7F33ACABF2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Implementation Methods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EEC73937-F860-420D-A685-DBE8927E45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295400"/>
            <a:ext cx="8153400" cy="5105400"/>
          </a:xfrm>
        </p:spPr>
        <p:txBody>
          <a:bodyPr/>
          <a:lstStyle/>
          <a:p>
            <a:pPr eaLnBrk="1" hangingPunct="1"/>
            <a:r>
              <a:rPr lang="en-US" altLang="en-US" sz="2400"/>
              <a:t>Compilation</a:t>
            </a:r>
          </a:p>
          <a:p>
            <a:pPr lvl="1" eaLnBrk="1" hangingPunct="1"/>
            <a:r>
              <a:rPr lang="en-US" altLang="en-US" sz="2000"/>
              <a:t>Programs are translated into machine language; includes JIT systems</a:t>
            </a:r>
          </a:p>
          <a:p>
            <a:pPr lvl="1" eaLnBrk="1" hangingPunct="1"/>
            <a:r>
              <a:rPr lang="en-US" altLang="en-US" sz="2000"/>
              <a:t>Use: Large commercial applications</a:t>
            </a:r>
          </a:p>
          <a:p>
            <a:pPr lvl="1" eaLnBrk="1" hangingPunct="1">
              <a:buFontTx/>
              <a:buNone/>
            </a:pPr>
            <a:endParaRPr lang="en-US" altLang="en-US" sz="2000"/>
          </a:p>
          <a:p>
            <a:pPr eaLnBrk="1" hangingPunct="1"/>
            <a:r>
              <a:rPr lang="en-US" altLang="en-US" sz="2400"/>
              <a:t>Pure Interpretation</a:t>
            </a:r>
          </a:p>
          <a:p>
            <a:pPr lvl="1" eaLnBrk="1" hangingPunct="1"/>
            <a:r>
              <a:rPr lang="en-US" altLang="en-US" sz="2000"/>
              <a:t>Programs are interpreted by another program known as an interpreter</a:t>
            </a:r>
          </a:p>
          <a:p>
            <a:pPr lvl="1" eaLnBrk="1" hangingPunct="1"/>
            <a:r>
              <a:rPr lang="en-US" altLang="en-US" sz="2000"/>
              <a:t>Use: Small programs or when efficiency is not an issue</a:t>
            </a:r>
          </a:p>
          <a:p>
            <a:pPr lvl="1" eaLnBrk="1" hangingPunct="1">
              <a:buFontTx/>
              <a:buNone/>
            </a:pPr>
            <a:endParaRPr lang="en-US" altLang="en-US" sz="2000"/>
          </a:p>
          <a:p>
            <a:pPr eaLnBrk="1" hangingPunct="1"/>
            <a:r>
              <a:rPr lang="en-US" altLang="en-US" sz="2400"/>
              <a:t>Hybrid Implementation Systems</a:t>
            </a:r>
          </a:p>
          <a:p>
            <a:pPr lvl="1" eaLnBrk="1" hangingPunct="1"/>
            <a:r>
              <a:rPr lang="en-US" altLang="en-US" sz="2000"/>
              <a:t>A compromise between compilers and pure interpreters</a:t>
            </a:r>
          </a:p>
          <a:p>
            <a:pPr lvl="1" eaLnBrk="1" hangingPunct="1"/>
            <a:r>
              <a:rPr lang="en-US" altLang="en-US" sz="2000"/>
              <a:t>Use: Small and medium systems when efficiency is not the first concern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4FCB9A92-1475-4422-92FB-663D58F00B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22531" name="Slide Number Placeholder 4">
            <a:extLst>
              <a:ext uri="{FF2B5EF4-FFF2-40B4-BE49-F238E27FC236}">
                <a16:creationId xmlns:a16="http://schemas.microsoft.com/office/drawing/2014/main" id="{CAFCBC04-6D35-4E95-947A-122236139C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F77F8052-1932-4169-B5CD-18681ED84503}" type="slidenum">
              <a:rPr lang="en-US" altLang="en-US" sz="1000">
                <a:latin typeface="Arial" panose="020B0604020202020204" pitchFamily="34" charset="0"/>
              </a:rPr>
              <a:pPr/>
              <a:t>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2532" name="Rectangle 2">
            <a:extLst>
              <a:ext uri="{FF2B5EF4-FFF2-40B4-BE49-F238E27FC236}">
                <a16:creationId xmlns:a16="http://schemas.microsoft.com/office/drawing/2014/main" id="{31FB10FD-776F-42CF-9A69-1A187DF683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81000"/>
            <a:ext cx="8153400" cy="1143000"/>
          </a:xfrm>
        </p:spPr>
        <p:txBody>
          <a:bodyPr/>
          <a:lstStyle/>
          <a:p>
            <a:pPr eaLnBrk="1" hangingPunct="1"/>
            <a:r>
              <a:rPr lang="en-US" altLang="en-US"/>
              <a:t>Layered View of Computer</a:t>
            </a:r>
          </a:p>
        </p:txBody>
      </p:sp>
      <p:pic>
        <p:nvPicPr>
          <p:cNvPr id="22533" name="Picture 4">
            <a:extLst>
              <a:ext uri="{FF2B5EF4-FFF2-40B4-BE49-F238E27FC236}">
                <a16:creationId xmlns:a16="http://schemas.microsoft.com/office/drawing/2014/main" id="{A69A6245-2D6B-4AA6-BE7F-2702744FCF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1" y="1295400"/>
            <a:ext cx="4729163" cy="503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4" name="Text Box 5">
            <a:extLst>
              <a:ext uri="{FF2B5EF4-FFF2-40B4-BE49-F238E27FC236}">
                <a16:creationId xmlns:a16="http://schemas.microsoft.com/office/drawing/2014/main" id="{612B47AB-55E5-4E27-859E-FB0DBBF72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6" y="1336675"/>
            <a:ext cx="3216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s-MX" altLang="en-US"/>
          </a:p>
        </p:txBody>
      </p:sp>
      <p:sp>
        <p:nvSpPr>
          <p:cNvPr id="22535" name="Text Box 6">
            <a:extLst>
              <a:ext uri="{FF2B5EF4-FFF2-40B4-BE49-F238E27FC236}">
                <a16:creationId xmlns:a16="http://schemas.microsoft.com/office/drawing/2014/main" id="{9F3F6EAF-81B3-49F4-9FA7-A6FD004B1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6" y="1412875"/>
            <a:ext cx="3140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s-MX" altLang="en-US"/>
          </a:p>
        </p:txBody>
      </p:sp>
      <p:sp>
        <p:nvSpPr>
          <p:cNvPr id="22536" name="Text Box 7">
            <a:extLst>
              <a:ext uri="{FF2B5EF4-FFF2-40B4-BE49-F238E27FC236}">
                <a16:creationId xmlns:a16="http://schemas.microsoft.com/office/drawing/2014/main" id="{7B8BE7CB-FCE3-4D8F-B8AE-DC945A2F0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17176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endParaRPr lang="es-MX" altLang="en-US"/>
          </a:p>
        </p:txBody>
      </p:sp>
      <p:sp>
        <p:nvSpPr>
          <p:cNvPr id="22537" name="Text Box 8">
            <a:extLst>
              <a:ext uri="{FF2B5EF4-FFF2-40B4-BE49-F238E27FC236}">
                <a16:creationId xmlns:a16="http://schemas.microsoft.com/office/drawing/2014/main" id="{DC176E01-F55B-46C2-B7DC-2EA583F29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6" y="1260476"/>
            <a:ext cx="3216275" cy="192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2000">
                <a:solidFill>
                  <a:srgbClr val="0000CC"/>
                </a:solidFill>
                <a:latin typeface="Lucida Sans Unicode" panose="020B0602030504020204" pitchFamily="34" charset="0"/>
              </a:rPr>
              <a:t>The operating system and language implementation are layered over </a:t>
            </a:r>
          </a:p>
          <a:p>
            <a:r>
              <a:rPr lang="en-US" altLang="en-US" sz="2000">
                <a:solidFill>
                  <a:srgbClr val="0000CC"/>
                </a:solidFill>
                <a:latin typeface="Lucida Sans Unicode" panose="020B0602030504020204" pitchFamily="34" charset="0"/>
              </a:rPr>
              <a:t>machine interface of a computer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8F523AEE-DE5D-4DF4-A277-18871F87B0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23555" name="Slide Number Placeholder 4">
            <a:extLst>
              <a:ext uri="{FF2B5EF4-FFF2-40B4-BE49-F238E27FC236}">
                <a16:creationId xmlns:a16="http://schemas.microsoft.com/office/drawing/2014/main" id="{27380B0F-2B54-4B46-99ED-934CCBBD79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0BB0B1FC-78A0-40C1-A99C-65721BB15A05}" type="slidenum">
              <a:rPr lang="en-US" altLang="en-US" sz="1000">
                <a:latin typeface="Arial" panose="020B0604020202020204" pitchFamily="34" charset="0"/>
              </a:rPr>
              <a:pPr/>
              <a:t>4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E8C837E2-C6A0-46CC-9C11-3D2DEE12D9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Compilation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C4F612EA-0231-4E39-BB9A-0C61740FD5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/>
              <a:t>Translate high-level program (source language) into machine code (machine language)</a:t>
            </a:r>
          </a:p>
          <a:p>
            <a:pPr eaLnBrk="1" hangingPunct="1"/>
            <a:r>
              <a:rPr lang="en-US" altLang="en-US" sz="2400"/>
              <a:t>Slow translation, fast execution</a:t>
            </a:r>
          </a:p>
          <a:p>
            <a:pPr eaLnBrk="1" hangingPunct="1"/>
            <a:r>
              <a:rPr lang="en-US" altLang="en-US" sz="2400"/>
              <a:t>Compilation process has several phases: </a:t>
            </a:r>
          </a:p>
          <a:p>
            <a:pPr lvl="1" eaLnBrk="1" hangingPunct="1"/>
            <a:r>
              <a:rPr lang="en-US" altLang="en-US" sz="2000"/>
              <a:t>lexical analysis: converts characters in the source program into lexical units</a:t>
            </a:r>
          </a:p>
          <a:p>
            <a:pPr lvl="1" eaLnBrk="1" hangingPunct="1"/>
            <a:r>
              <a:rPr lang="en-US" altLang="en-US" sz="2000"/>
              <a:t>syntax analysis: transforms lexical units into </a:t>
            </a:r>
            <a:r>
              <a:rPr lang="en-US" altLang="en-US" sz="2000" i="1"/>
              <a:t>parse trees </a:t>
            </a:r>
            <a:r>
              <a:rPr lang="en-US" altLang="en-US" sz="2000"/>
              <a:t>which represent the syntactic structure of program</a:t>
            </a:r>
          </a:p>
          <a:p>
            <a:pPr lvl="1" eaLnBrk="1" hangingPunct="1"/>
            <a:r>
              <a:rPr lang="en-US" altLang="en-US" sz="2000"/>
              <a:t>Semantics analysis: generate intermediate code</a:t>
            </a:r>
          </a:p>
          <a:p>
            <a:pPr lvl="1" eaLnBrk="1" hangingPunct="1"/>
            <a:r>
              <a:rPr lang="en-US" altLang="en-US" sz="2000"/>
              <a:t>code generation: machine code is generated</a:t>
            </a:r>
          </a:p>
          <a:p>
            <a:pPr eaLnBrk="1" hangingPunct="1"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2">
            <a:extLst>
              <a:ext uri="{FF2B5EF4-FFF2-40B4-BE49-F238E27FC236}">
                <a16:creationId xmlns:a16="http://schemas.microsoft.com/office/drawing/2014/main" id="{06ACC569-B3AE-4E0B-80A4-85DFBA2180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B19D8122-3ADE-4620-A092-A2FD8B419C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DDF3B095-E47B-49E2-9A1A-66AB2591501A}" type="slidenum">
              <a:rPr lang="en-US" altLang="en-US" sz="1000">
                <a:latin typeface="Arial" panose="020B0604020202020204" pitchFamily="34" charset="0"/>
              </a:rPr>
              <a:pPr/>
              <a:t>5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4580" name="Rectangle 2">
            <a:extLst>
              <a:ext uri="{FF2B5EF4-FFF2-40B4-BE49-F238E27FC236}">
                <a16:creationId xmlns:a16="http://schemas.microsoft.com/office/drawing/2014/main" id="{94E42D62-8729-4CE2-8ACE-C8DC4F6B8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457200"/>
            <a:ext cx="6477000" cy="1206500"/>
          </a:xfrm>
        </p:spPr>
        <p:txBody>
          <a:bodyPr/>
          <a:lstStyle/>
          <a:p>
            <a:pPr eaLnBrk="1" hangingPunct="1"/>
            <a:r>
              <a:rPr lang="en-US" altLang="en-US"/>
              <a:t>The Compilation Process</a:t>
            </a:r>
          </a:p>
        </p:txBody>
      </p:sp>
      <p:pic>
        <p:nvPicPr>
          <p:cNvPr id="24581" name="Picture 4">
            <a:extLst>
              <a:ext uri="{FF2B5EF4-FFF2-40B4-BE49-F238E27FC236}">
                <a16:creationId xmlns:a16="http://schemas.microsoft.com/office/drawing/2014/main" id="{0E712C35-8766-44CB-A05F-9BE2CCBD3D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295400"/>
            <a:ext cx="4027488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3">
            <a:extLst>
              <a:ext uri="{FF2B5EF4-FFF2-40B4-BE49-F238E27FC236}">
                <a16:creationId xmlns:a16="http://schemas.microsoft.com/office/drawing/2014/main" id="{6A7CC7B3-1504-481D-8632-CCA47E7B2F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25603" name="Slide Number Placeholder 4">
            <a:extLst>
              <a:ext uri="{FF2B5EF4-FFF2-40B4-BE49-F238E27FC236}">
                <a16:creationId xmlns:a16="http://schemas.microsoft.com/office/drawing/2014/main" id="{00F47B41-FA1F-4E28-8C42-9D49A3F0A6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FBC70A7C-816E-4ED1-9557-9EF4B787BADC}" type="slidenum">
              <a:rPr lang="en-US" altLang="en-US" sz="1000">
                <a:latin typeface="Arial" panose="020B0604020202020204" pitchFamily="34" charset="0"/>
              </a:rPr>
              <a:pPr/>
              <a:t>6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A1EF3DC5-D8DB-444C-ABE6-98F7BB3C1C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Additional Compilation Terminologies</a:t>
            </a: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D59524D0-D9A4-4A2B-A62C-5CBCD48224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/>
              <a:t>Load module</a:t>
            </a:r>
            <a:r>
              <a:rPr lang="en-US" altLang="en-US"/>
              <a:t> (executable image): the user and system code together</a:t>
            </a:r>
          </a:p>
          <a:p>
            <a:pPr eaLnBrk="1" hangingPunct="1"/>
            <a:r>
              <a:rPr lang="en-US" altLang="en-US" b="1"/>
              <a:t>Linking and loading</a:t>
            </a:r>
            <a:r>
              <a:rPr lang="en-US" altLang="en-US"/>
              <a:t>: the process of collecting system program units and linking them to a user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4FC5E2C0-4FF0-4C9A-9B08-9199A020A0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26627" name="Slide Number Placeholder 4">
            <a:extLst>
              <a:ext uri="{FF2B5EF4-FFF2-40B4-BE49-F238E27FC236}">
                <a16:creationId xmlns:a16="http://schemas.microsoft.com/office/drawing/2014/main" id="{AA62AA48-0943-44DE-BBE7-AB012E8A98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AA36F5DD-A568-44BE-A5F3-205E676CD532}" type="slidenum">
              <a:rPr lang="en-US" altLang="en-US" sz="1000">
                <a:latin typeface="Arial" panose="020B0604020202020204" pitchFamily="34" charset="0"/>
              </a:rPr>
              <a:pPr/>
              <a:t>7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6628" name="Rectangle 2">
            <a:extLst>
              <a:ext uri="{FF2B5EF4-FFF2-40B4-BE49-F238E27FC236}">
                <a16:creationId xmlns:a16="http://schemas.microsoft.com/office/drawing/2014/main" id="{85C12CA4-9E9B-41E2-BC3E-FB42565AB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Von Neumann Bottleneck</a:t>
            </a: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A4202F65-14CA-4151-B501-811355D37E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Connection speed between a computer’s memory and its processor determines the speed of a computer</a:t>
            </a:r>
          </a:p>
          <a:p>
            <a:pPr eaLnBrk="1" hangingPunct="1"/>
            <a:r>
              <a:rPr lang="en-US" altLang="en-US"/>
              <a:t>Program instructions often can be executed much faster than the speed of the connection; the connection speed thus results in a </a:t>
            </a:r>
            <a:r>
              <a:rPr lang="en-US" altLang="en-US" i="1"/>
              <a:t>bottleneck</a:t>
            </a:r>
          </a:p>
          <a:p>
            <a:pPr eaLnBrk="1" hangingPunct="1"/>
            <a:r>
              <a:rPr lang="en-US" altLang="en-US"/>
              <a:t>Known as the </a:t>
            </a:r>
            <a:r>
              <a:rPr lang="en-US" altLang="en-US" i="1"/>
              <a:t>von Neumann bottleneck</a:t>
            </a:r>
            <a:r>
              <a:rPr lang="en-US" altLang="en-US"/>
              <a:t>; it is the primary limiting factor in the speed of computers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3">
            <a:extLst>
              <a:ext uri="{FF2B5EF4-FFF2-40B4-BE49-F238E27FC236}">
                <a16:creationId xmlns:a16="http://schemas.microsoft.com/office/drawing/2014/main" id="{4F893D85-3902-4383-BC8A-A3C8CB158A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27651" name="Slide Number Placeholder 4">
            <a:extLst>
              <a:ext uri="{FF2B5EF4-FFF2-40B4-BE49-F238E27FC236}">
                <a16:creationId xmlns:a16="http://schemas.microsoft.com/office/drawing/2014/main" id="{0F78132A-02F8-4C84-919C-F8A6AE3077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669749DF-CC22-409E-B6BB-84889240F1C0}" type="slidenum">
              <a:rPr lang="en-US" altLang="en-US" sz="1000">
                <a:latin typeface="Arial" panose="020B0604020202020204" pitchFamily="34" charset="0"/>
              </a:rPr>
              <a:pPr/>
              <a:t>8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2478789E-BB7E-4A6B-B517-F678E9FDA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Pure Interpretation</a:t>
            </a: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294B2E2C-3F44-41F4-8926-A5A7DA4074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sz="2400"/>
              <a:t>No translation</a:t>
            </a:r>
          </a:p>
          <a:p>
            <a:pPr eaLnBrk="1" hangingPunct="1"/>
            <a:r>
              <a:rPr lang="en-US" altLang="en-US" sz="2400"/>
              <a:t>Easier implementation of programs (run-time errors can easily and immediately be displayed)</a:t>
            </a:r>
          </a:p>
          <a:p>
            <a:pPr eaLnBrk="1" hangingPunct="1"/>
            <a:r>
              <a:rPr lang="en-US" altLang="en-US" sz="2400"/>
              <a:t>Slower execution (10 to 100 times slower than compiled programs)</a:t>
            </a:r>
          </a:p>
          <a:p>
            <a:pPr eaLnBrk="1" hangingPunct="1"/>
            <a:r>
              <a:rPr lang="en-US" altLang="en-US" sz="2400"/>
              <a:t>Often requires more space</a:t>
            </a:r>
          </a:p>
          <a:p>
            <a:pPr eaLnBrk="1" hangingPunct="1"/>
            <a:r>
              <a:rPr lang="en-US" altLang="en-US" sz="2400"/>
              <a:t>Now rare for traditional high-level languages</a:t>
            </a:r>
          </a:p>
          <a:p>
            <a:pPr eaLnBrk="1" hangingPunct="1"/>
            <a:r>
              <a:rPr lang="en-US" altLang="en-US" sz="2400"/>
              <a:t>Significant comeback with some Web scripting languages (e.g., JavaScript, PHP)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2">
            <a:extLst>
              <a:ext uri="{FF2B5EF4-FFF2-40B4-BE49-F238E27FC236}">
                <a16:creationId xmlns:a16="http://schemas.microsoft.com/office/drawing/2014/main" id="{9BD50A25-8CA8-4483-BFDC-00BE2002B3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28675" name="Slide Number Placeholder 3">
            <a:extLst>
              <a:ext uri="{FF2B5EF4-FFF2-40B4-BE49-F238E27FC236}">
                <a16:creationId xmlns:a16="http://schemas.microsoft.com/office/drawing/2014/main" id="{01412EB2-0E3C-49FA-AD12-075C8B6499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7DBF884E-C453-4400-9280-299E620E5142}" type="slidenum">
              <a:rPr lang="en-US" altLang="en-US" sz="1000">
                <a:latin typeface="Arial" panose="020B0604020202020204" pitchFamily="34" charset="0"/>
              </a:rPr>
              <a:pPr/>
              <a:t>9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8676" name="Rectangle 2">
            <a:extLst>
              <a:ext uri="{FF2B5EF4-FFF2-40B4-BE49-F238E27FC236}">
                <a16:creationId xmlns:a16="http://schemas.microsoft.com/office/drawing/2014/main" id="{D88EFD56-53BF-4ABE-BA8E-67B1E3A0B0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Pure Interpretation Process</a:t>
            </a:r>
          </a:p>
        </p:txBody>
      </p:sp>
      <p:pic>
        <p:nvPicPr>
          <p:cNvPr id="28677" name="Picture 4">
            <a:extLst>
              <a:ext uri="{FF2B5EF4-FFF2-40B4-BE49-F238E27FC236}">
                <a16:creationId xmlns:a16="http://schemas.microsoft.com/office/drawing/2014/main" id="{828DFF65-969F-43CD-ABA3-70775D6FC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1" y="1371600"/>
            <a:ext cx="3732213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id="{0A025D51-E25C-41E2-89C1-B4729B6077E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29699" name="Slide Number Placeholder 4">
            <a:extLst>
              <a:ext uri="{FF2B5EF4-FFF2-40B4-BE49-F238E27FC236}">
                <a16:creationId xmlns:a16="http://schemas.microsoft.com/office/drawing/2014/main" id="{25511923-1A9E-4FC8-93E9-D9893931C9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10F8DF61-63AC-48E4-ABC4-5E3DA589AE9D}" type="slidenum">
              <a:rPr lang="en-US" altLang="en-US" sz="1000">
                <a:latin typeface="Arial" panose="020B0604020202020204" pitchFamily="34" charset="0"/>
              </a:rPr>
              <a:pPr/>
              <a:t>10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725C1852-ACF4-4771-A57B-35142C952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Hybrid Implementation Systems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0B6FB741-3970-4329-857A-760DB25E03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447800"/>
            <a:ext cx="8153400" cy="4572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A compromise between compilers and pure interpreters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A high-level language program is translated to an intermediate language that allows easy interpretation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Faster than pure interpretation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Perl programs are partially compiled to detect errors before interpretation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Initial implementations of Java were hybrid; the intermediate form, </a:t>
            </a:r>
            <a:r>
              <a:rPr lang="en-US" altLang="en-US" sz="2000" i="1"/>
              <a:t>byte code</a:t>
            </a:r>
            <a:r>
              <a:rPr lang="en-US" altLang="en-US" sz="2000"/>
              <a:t>, provides portability to any machine that has a byte code interpreter and a run-time system (together, these are called </a:t>
            </a:r>
            <a:r>
              <a:rPr lang="en-US" altLang="en-US" sz="2000" i="1"/>
              <a:t>Java Virtual Machine</a:t>
            </a:r>
            <a:r>
              <a:rPr lang="en-US" altLang="en-US" sz="2000"/>
              <a:t>)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2">
            <a:extLst>
              <a:ext uri="{FF2B5EF4-FFF2-40B4-BE49-F238E27FC236}">
                <a16:creationId xmlns:a16="http://schemas.microsoft.com/office/drawing/2014/main" id="{166C48E4-A85B-438B-9B97-84A43D8E4E5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30723" name="Slide Number Placeholder 3">
            <a:extLst>
              <a:ext uri="{FF2B5EF4-FFF2-40B4-BE49-F238E27FC236}">
                <a16:creationId xmlns:a16="http://schemas.microsoft.com/office/drawing/2014/main" id="{B14DCCD4-F23E-4760-8A1A-04F0F52336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2839C525-2D0A-42DD-94F7-865E2E12AFEE}" type="slidenum">
              <a:rPr lang="en-US" altLang="en-US" sz="1000">
                <a:latin typeface="Arial" panose="020B0604020202020204" pitchFamily="34" charset="0"/>
              </a:rPr>
              <a:pPr/>
              <a:t>11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5CEC6375-CF40-4056-B2B1-D89ACE9B71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0" y="304800"/>
            <a:ext cx="8001000" cy="1524000"/>
          </a:xfrm>
        </p:spPr>
        <p:txBody>
          <a:bodyPr/>
          <a:lstStyle/>
          <a:p>
            <a:pPr eaLnBrk="1" hangingPunct="1"/>
            <a:r>
              <a:rPr lang="en-US" altLang="en-US"/>
              <a:t>Hybrid Implementation Process</a:t>
            </a:r>
          </a:p>
        </p:txBody>
      </p:sp>
      <p:pic>
        <p:nvPicPr>
          <p:cNvPr id="30725" name="Picture 4">
            <a:extLst>
              <a:ext uri="{FF2B5EF4-FFF2-40B4-BE49-F238E27FC236}">
                <a16:creationId xmlns:a16="http://schemas.microsoft.com/office/drawing/2014/main" id="{44E8CE8C-CDF9-401F-A891-78C0B2820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1" y="1295400"/>
            <a:ext cx="1819275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>
            <a:extLst>
              <a:ext uri="{FF2B5EF4-FFF2-40B4-BE49-F238E27FC236}">
                <a16:creationId xmlns:a16="http://schemas.microsoft.com/office/drawing/2014/main" id="{5D4EA5AE-0977-433A-B1F7-1E7919B26E5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31747" name="Slide Number Placeholder 4">
            <a:extLst>
              <a:ext uri="{FF2B5EF4-FFF2-40B4-BE49-F238E27FC236}">
                <a16:creationId xmlns:a16="http://schemas.microsoft.com/office/drawing/2014/main" id="{2B1A71C8-296E-49C3-9B34-67A9112DB0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FBA89403-25E5-4FE6-8C08-F9FBB3F0D0D1}" type="slidenum">
              <a:rPr lang="en-US" altLang="en-US" sz="1000">
                <a:latin typeface="Arial" panose="020B0604020202020204" pitchFamily="34" charset="0"/>
              </a:rPr>
              <a:pPr/>
              <a:t>12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2D8046EE-F26A-4649-819D-872D58CA9E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Just-in-Time Implementation Systems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1EDEE6BE-DCCE-4AFF-BAA4-546D7C80E3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Initially translate programs to an intermediate language</a:t>
            </a:r>
          </a:p>
          <a:p>
            <a:pPr eaLnBrk="1" hangingPunct="1"/>
            <a:r>
              <a:rPr lang="en-US" altLang="en-US" sz="2400"/>
              <a:t>Then compile the intermediate language of the subprograms into machine code when they are called </a:t>
            </a:r>
          </a:p>
          <a:p>
            <a:pPr eaLnBrk="1" hangingPunct="1"/>
            <a:r>
              <a:rPr lang="en-US" altLang="en-US" sz="2400"/>
              <a:t>Machine code version is kept for subsequent calls</a:t>
            </a:r>
          </a:p>
          <a:p>
            <a:pPr eaLnBrk="1" hangingPunct="1"/>
            <a:r>
              <a:rPr lang="en-US" altLang="en-US" sz="2400"/>
              <a:t>JIT systems are widely used for Java programs</a:t>
            </a:r>
          </a:p>
          <a:p>
            <a:pPr eaLnBrk="1" hangingPunct="1"/>
            <a:r>
              <a:rPr lang="en-US" altLang="en-US" sz="2400"/>
              <a:t>.NET languages are implemented with a JIT system</a:t>
            </a:r>
          </a:p>
          <a:p>
            <a:pPr eaLnBrk="1" hangingPunct="1"/>
            <a:r>
              <a:rPr lang="en-US" altLang="en-US" sz="2400"/>
              <a:t>In essence, JIT systems are delayed compilers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BCE647D1-271B-4F5E-851C-815C572320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32771" name="Slide Number Placeholder 4">
            <a:extLst>
              <a:ext uri="{FF2B5EF4-FFF2-40B4-BE49-F238E27FC236}">
                <a16:creationId xmlns:a16="http://schemas.microsoft.com/office/drawing/2014/main" id="{6AA94780-8799-4395-A7AF-0C2A7A3884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1A62F2A7-2569-42D0-B435-33D7C347DAF1}" type="slidenum">
              <a:rPr lang="en-US" altLang="en-US" sz="1000">
                <a:latin typeface="Arial" panose="020B0604020202020204" pitchFamily="34" charset="0"/>
              </a:rPr>
              <a:pPr/>
              <a:t>13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B61F7230-D7EF-48E4-9F14-0FD9C2E70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Preprocessors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078B2901-01A6-41EF-8861-BDB729C8B1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4478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/>
              <a:t>Preprocessor macros (instructions) are commonly used to specify that code from another file is to be included</a:t>
            </a:r>
          </a:p>
          <a:p>
            <a:pPr eaLnBrk="1" hangingPunct="1"/>
            <a:r>
              <a:rPr lang="en-US" altLang="en-US"/>
              <a:t>A preprocessor processes a program immediately before the program is compiled to expand embedded  preprocessor macros</a:t>
            </a:r>
          </a:p>
          <a:p>
            <a:pPr eaLnBrk="1" hangingPunct="1"/>
            <a:r>
              <a:rPr lang="en-US" altLang="en-US"/>
              <a:t>A well-known example: C preprocessor</a:t>
            </a:r>
          </a:p>
          <a:p>
            <a:pPr lvl="1" eaLnBrk="1" hangingPunct="1"/>
            <a:r>
              <a:rPr lang="en-US" altLang="en-US"/>
              <a:t>expands </a:t>
            </a:r>
            <a:r>
              <a:rPr lang="en-US" altLang="en-US">
                <a:latin typeface="Courier New" panose="02070309020205020404" pitchFamily="49" charset="0"/>
              </a:rPr>
              <a:t>#include, #define</a:t>
            </a:r>
            <a:r>
              <a:rPr lang="en-US" altLang="en-US"/>
              <a:t>, and similar macros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Footer Placeholder 3">
            <a:extLst>
              <a:ext uri="{FF2B5EF4-FFF2-40B4-BE49-F238E27FC236}">
                <a16:creationId xmlns:a16="http://schemas.microsoft.com/office/drawing/2014/main" id="{F6568187-9E6B-47CE-B3C8-5EEA2FFD22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33795" name="Slide Number Placeholder 4">
            <a:extLst>
              <a:ext uri="{FF2B5EF4-FFF2-40B4-BE49-F238E27FC236}">
                <a16:creationId xmlns:a16="http://schemas.microsoft.com/office/drawing/2014/main" id="{10F3B683-C15D-4207-995D-AC8C3F434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BF1DF89A-01F1-4978-A5F2-8F5DF9FB5B56}" type="slidenum">
              <a:rPr lang="en-US" altLang="en-US" sz="1000">
                <a:latin typeface="Arial" panose="020B0604020202020204" pitchFamily="34" charset="0"/>
              </a:rPr>
              <a:pPr/>
              <a:t>14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3796" name="Rectangle 2">
            <a:extLst>
              <a:ext uri="{FF2B5EF4-FFF2-40B4-BE49-F238E27FC236}">
                <a16:creationId xmlns:a16="http://schemas.microsoft.com/office/drawing/2014/main" id="{6339C355-C053-4BC9-A7D9-D6D15AE0D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Programming Environments</a:t>
            </a: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4AE97D6F-F781-4DFC-91DA-968BC28430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371600"/>
            <a:ext cx="8153400" cy="4876800"/>
          </a:xfrm>
        </p:spPr>
        <p:txBody>
          <a:bodyPr/>
          <a:lstStyle/>
          <a:p>
            <a:pPr eaLnBrk="1" hangingPunct="1"/>
            <a:r>
              <a:rPr lang="en-US" altLang="en-US" sz="2400"/>
              <a:t>A collection of tools used in software development</a:t>
            </a:r>
          </a:p>
          <a:p>
            <a:pPr eaLnBrk="1" hangingPunct="1"/>
            <a:r>
              <a:rPr lang="en-US" altLang="en-US" sz="2400"/>
              <a:t>UNIX</a:t>
            </a:r>
          </a:p>
          <a:p>
            <a:pPr lvl="1" eaLnBrk="1" hangingPunct="1"/>
            <a:r>
              <a:rPr lang="en-US" altLang="en-US" sz="2000"/>
              <a:t>An older operating system and tool collection</a:t>
            </a:r>
          </a:p>
          <a:p>
            <a:pPr lvl="1" eaLnBrk="1" hangingPunct="1"/>
            <a:r>
              <a:rPr lang="en-US" altLang="en-US" sz="2000"/>
              <a:t>Nowadays often used through a GUI (e.g., CDE, KDE, or GNOME) that runs on top of UNIX</a:t>
            </a:r>
          </a:p>
          <a:p>
            <a:pPr eaLnBrk="1" hangingPunct="1"/>
            <a:r>
              <a:rPr lang="en-US" altLang="en-US" sz="2400"/>
              <a:t>Microsoft Visual Studio.NET</a:t>
            </a:r>
          </a:p>
          <a:p>
            <a:pPr lvl="1" eaLnBrk="1" hangingPunct="1"/>
            <a:r>
              <a:rPr lang="en-US" altLang="en-US" sz="2000"/>
              <a:t>A large, complex visual environment</a:t>
            </a:r>
          </a:p>
          <a:p>
            <a:pPr eaLnBrk="1" hangingPunct="1"/>
            <a:r>
              <a:rPr lang="en-US" altLang="en-US" sz="2000"/>
              <a:t>Used to build Web applications and non-Web applications in any .NET language</a:t>
            </a:r>
          </a:p>
          <a:p>
            <a:pPr eaLnBrk="1" hangingPunct="1"/>
            <a:r>
              <a:rPr lang="en-US" altLang="en-US" sz="2400"/>
              <a:t>NetBeans</a:t>
            </a:r>
          </a:p>
          <a:p>
            <a:pPr lvl="1" eaLnBrk="1" hangingPunct="1"/>
            <a:r>
              <a:rPr lang="en-US" altLang="en-US" sz="2000"/>
              <a:t>Related to Visual Studio .NET, except for applications in Java</a:t>
            </a:r>
          </a:p>
          <a:p>
            <a:pPr lvl="1" eaLnBrk="1" hangingPunct="1"/>
            <a:endParaRPr lang="en-US" altLang="en-US"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B7D4B6B8-6B15-4692-AC81-1C8CD590E2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Copyright © 2012 Addison-Wesley. All rights reserved.</a:t>
            </a:r>
          </a:p>
        </p:txBody>
      </p:sp>
      <p:sp>
        <p:nvSpPr>
          <p:cNvPr id="34819" name="Slide Number Placeholder 4">
            <a:extLst>
              <a:ext uri="{FF2B5EF4-FFF2-40B4-BE49-F238E27FC236}">
                <a16:creationId xmlns:a16="http://schemas.microsoft.com/office/drawing/2014/main" id="{26FEE955-2A40-4C14-8403-87FDD4BE2E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lang="en-US" altLang="en-US" sz="1000">
                <a:latin typeface="Arial" panose="020B0604020202020204" pitchFamily="34" charset="0"/>
              </a:rPr>
              <a:t>1-</a:t>
            </a:r>
            <a:fld id="{2E152A41-14BC-4CFD-89B3-4956BE19A6E8}" type="slidenum">
              <a:rPr lang="en-US" altLang="en-US" sz="1000">
                <a:latin typeface="Arial" panose="020B0604020202020204" pitchFamily="34" charset="0"/>
              </a:rPr>
              <a:pPr/>
              <a:t>15</a:t>
            </a:fld>
            <a:endParaRPr lang="en-US" altLang="en-US" sz="1000">
              <a:latin typeface="Arial" panose="020B0604020202020204" pitchFamily="34" charset="0"/>
            </a:endParaRPr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C975E2D4-FBC6-47BB-B573-F854F63750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C49A1BEC-405A-468F-B02D-B0338225BA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33600" y="1600200"/>
            <a:ext cx="8305800" cy="457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400"/>
              <a:t>The study of programming languages is valuable for a number of reasons: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Increase our capacity to use different constructs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Enable us to choose languages more intelligently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Makes learning new languages easier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Most important criteria for evaluating programming languages include: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/>
              <a:t>Readability, writability, reliability, cost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Major influences on language design have been machine architecture and software development methodologies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400"/>
              <a:t>The major methods of implementing programming languages are: compilation, pure interpretation, and hybrid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809</Words>
  <Application>Microsoft Office PowerPoint</Application>
  <PresentationFormat>Widescreen</PresentationFormat>
  <Paragraphs>121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Lucida Sans Unicode</vt:lpstr>
      <vt:lpstr>Times</vt:lpstr>
      <vt:lpstr>Office Theme</vt:lpstr>
      <vt:lpstr>Language Implementation Methods</vt:lpstr>
      <vt:lpstr>Implementation Methods</vt:lpstr>
      <vt:lpstr>Layered View of Computer</vt:lpstr>
      <vt:lpstr>Compilation</vt:lpstr>
      <vt:lpstr>The Compilation Process</vt:lpstr>
      <vt:lpstr>Additional Compilation Terminologies</vt:lpstr>
      <vt:lpstr>Von Neumann Bottleneck</vt:lpstr>
      <vt:lpstr>Pure Interpretation</vt:lpstr>
      <vt:lpstr>Pure Interpretation Process</vt:lpstr>
      <vt:lpstr>Hybrid Implementation Systems</vt:lpstr>
      <vt:lpstr>Hybrid Implementation Process</vt:lpstr>
      <vt:lpstr>Just-in-Time Implementation Systems</vt:lpstr>
      <vt:lpstr>Preprocessors</vt:lpstr>
      <vt:lpstr>Programming Environments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Ahsanur Rahman</dc:creator>
  <cp:lastModifiedBy>Ahsanur Rahman</cp:lastModifiedBy>
  <cp:revision>2</cp:revision>
  <dcterms:created xsi:type="dcterms:W3CDTF">2021-06-08T06:22:28Z</dcterms:created>
  <dcterms:modified xsi:type="dcterms:W3CDTF">2021-06-08T06:43:56Z</dcterms:modified>
</cp:coreProperties>
</file>